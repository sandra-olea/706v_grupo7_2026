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4" r:id="rId4"/>
    <p:sldId id="260" r:id="rId5"/>
    <p:sldId id="269" r:id="rId6"/>
    <p:sldId id="259" r:id="rId7"/>
    <p:sldId id="287" r:id="rId8"/>
    <p:sldId id="261" r:id="rId9"/>
    <p:sldId id="288" r:id="rId10"/>
    <p:sldId id="289" r:id="rId11"/>
    <p:sldId id="290" r:id="rId12"/>
    <p:sldId id="278" r:id="rId13"/>
    <p:sldId id="279" r:id="rId14"/>
    <p:sldId id="276" r:id="rId15"/>
    <p:sldId id="286" r:id="rId16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Estilo medio 1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50" d="100"/>
          <a:sy n="50" d="100"/>
        </p:scale>
        <p:origin x="586" y="7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#1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#1" qsCatId="simple" csTypeId="urn:microsoft.com/office/officeart/2005/8/colors/accent5_2#1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CL" dirty="0"/>
            <a:t>Pamela Romero</a:t>
          </a:r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CL" dirty="0"/>
            <a:t>Jefe de proyecto </a:t>
          </a:r>
          <a:r>
            <a:rPr lang="es-CL"/>
            <a:t>/ DBA</a:t>
          </a:r>
          <a:endParaRPr lang="es-CL" dirty="0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CL" dirty="0"/>
            <a:t>Javiera Pérez</a:t>
          </a:r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/>
            <a:t>Analista Programador / Diseñador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CL" dirty="0"/>
            <a:t>Desarrollo backend y móvil, diseño de interfaces, integración de componentes y documentación técnica.</a:t>
          </a:r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F09BF26D-2022-40EF-B754-46AD6A5DA741}">
      <dgm:prSet/>
      <dgm:spPr/>
      <dgm:t>
        <a:bodyPr/>
        <a:lstStyle/>
        <a:p>
          <a:r>
            <a:rPr lang="es-CL" dirty="0"/>
            <a:t>Karina Tobar</a:t>
          </a:r>
        </a:p>
      </dgm:t>
    </dgm:pt>
    <dgm:pt modelId="{22E33F83-C1EA-4F57-9248-EBBDD1566FE6}" type="parTrans" cxnId="{9B06EC53-423E-4393-A141-AEC376BB0443}">
      <dgm:prSet/>
      <dgm:spPr/>
      <dgm:t>
        <a:bodyPr/>
        <a:lstStyle/>
        <a:p>
          <a:endParaRPr lang="es-CL"/>
        </a:p>
      </dgm:t>
    </dgm:pt>
    <dgm:pt modelId="{A3A9474B-2427-41B4-91AF-61930E05E90E}" type="sibTrans" cxnId="{9B06EC53-423E-4393-A141-AEC376BB0443}">
      <dgm:prSet/>
      <dgm:spPr/>
      <dgm:t>
        <a:bodyPr/>
        <a:lstStyle/>
        <a:p>
          <a:endParaRPr lang="es-CL"/>
        </a:p>
      </dgm:t>
    </dgm:pt>
    <dgm:pt modelId="{0390E1A4-9F0C-46E1-9789-486D169974EF}">
      <dgm:prSet/>
      <dgm:spPr/>
      <dgm:t>
        <a:bodyPr/>
        <a:lstStyle/>
        <a:p>
          <a:r>
            <a:rPr lang="es-CL" dirty="0"/>
            <a:t>Analista Funcional / QA</a:t>
          </a:r>
        </a:p>
      </dgm:t>
    </dgm:pt>
    <dgm:pt modelId="{6B5C0B58-0A4A-499B-8E3C-CFF01ED1659D}" type="parTrans" cxnId="{61B14E73-C545-4FAF-A9A1-1B5F097E1162}">
      <dgm:prSet/>
      <dgm:spPr/>
      <dgm:t>
        <a:bodyPr/>
        <a:lstStyle/>
        <a:p>
          <a:endParaRPr lang="es-CL"/>
        </a:p>
      </dgm:t>
    </dgm:pt>
    <dgm:pt modelId="{B2B96C2E-A18A-4AAD-B360-3C214C15C245}" type="sibTrans" cxnId="{61B14E73-C545-4FAF-A9A1-1B5F097E1162}">
      <dgm:prSet/>
      <dgm:spPr/>
      <dgm:t>
        <a:bodyPr/>
        <a:lstStyle/>
        <a:p>
          <a:endParaRPr lang="es-CL"/>
        </a:p>
      </dgm:t>
    </dgm:pt>
    <dgm:pt modelId="{761B5960-C5C5-4A81-977F-F8155402171A}">
      <dgm:prSet/>
      <dgm:spPr/>
      <dgm:t>
        <a:bodyPr/>
        <a:lstStyle/>
        <a:p>
          <a:r>
            <a:rPr lang="es-CL" dirty="0"/>
            <a:t>Levantamiento y análisis de requerimientos, análisis funcional, ejecución de pruebas y aseguramiento de calidad.</a:t>
          </a:r>
        </a:p>
      </dgm:t>
    </dgm:pt>
    <dgm:pt modelId="{22F36988-6788-43E0-A823-AE4DD93A3D87}" type="parTrans" cxnId="{1FCDC96F-E7D0-4592-88D9-5D1CC7D10168}">
      <dgm:prSet/>
      <dgm:spPr/>
      <dgm:t>
        <a:bodyPr/>
        <a:lstStyle/>
        <a:p>
          <a:endParaRPr lang="es-CL"/>
        </a:p>
      </dgm:t>
    </dgm:pt>
    <dgm:pt modelId="{44CDD779-8E39-476B-AA7D-0796F124FDD0}" type="sibTrans" cxnId="{1FCDC96F-E7D0-4592-88D9-5D1CC7D10168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CL" dirty="0"/>
            <a:t>Planificación y coordinación del proyecto, gestión de riesgos y diseño y administración de la base de datos.</a:t>
          </a:r>
        </a:p>
      </dgm:t>
    </dgm:pt>
    <dgm:pt modelId="{B200B6AA-AA2A-4CB8-80FF-4BB54938E8A5}" type="parTrans" cxnId="{D807CC5D-7B16-4C61-B5DB-808B0358722D}">
      <dgm:prSet/>
      <dgm:spPr/>
      <dgm:t>
        <a:bodyPr/>
        <a:lstStyle/>
        <a:p>
          <a:endParaRPr lang="es-CL"/>
        </a:p>
      </dgm:t>
    </dgm:pt>
    <dgm:pt modelId="{3728DB5E-E904-481D-A1E5-49CF4AFFC0D3}" type="sibTrans" cxnId="{D807CC5D-7B16-4C61-B5DB-808B0358722D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/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/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0A053813-1A27-48A9-9CE4-CF4EBB9943E0}" type="pres">
      <dgm:prSet presAssocID="{F09BF26D-2022-40EF-B754-46AD6A5DA741}" presName="comp" presStyleCnt="0"/>
      <dgm:spPr/>
    </dgm:pt>
    <dgm:pt modelId="{F6EA3109-3DED-4AF4-91BA-940DEFBF6AB6}" type="pres">
      <dgm:prSet presAssocID="{F09BF26D-2022-40EF-B754-46AD6A5DA741}" presName="box" presStyleLbl="node1" presStyleIdx="2" presStyleCnt="3"/>
      <dgm:spPr/>
    </dgm:pt>
    <dgm:pt modelId="{504B6808-2EA0-4B63-AE60-779A9AA54E83}" type="pres">
      <dgm:prSet presAssocID="{F09BF26D-2022-40EF-B754-46AD6A5DA741}" presName="img" presStyleLbl="fgImgPlace1" presStyleIdx="2" presStyleCnt="3"/>
      <dgm:spPr/>
    </dgm:pt>
    <dgm:pt modelId="{4539DCF4-B987-4503-BDC5-6515AA2623F4}" type="pres">
      <dgm:prSet presAssocID="{F09BF26D-2022-40EF-B754-46AD6A5DA741}" presName="text" presStyleLbl="node1" presStyleIdx="2" presStyleCnt="3">
        <dgm:presLayoutVars>
          <dgm:bulletEnabled val="1"/>
        </dgm:presLayoutVars>
      </dgm:prSet>
      <dgm:spPr/>
    </dgm:pt>
  </dgm:ptLst>
  <dgm:cxnLst>
    <dgm:cxn modelId="{AE18CC17-BD7D-4000-9D28-1733E983B207}" type="presOf" srcId="{761B5960-C5C5-4A81-977F-F8155402171A}" destId="{4539DCF4-B987-4503-BDC5-6515AA2623F4}" srcOrd="1" destOrd="2" presId="urn:microsoft.com/office/officeart/2005/8/layout/vList4"/>
    <dgm:cxn modelId="{7AC9A61A-0FBC-4F38-B826-D2E367BDA81C}" type="presOf" srcId="{02A34BC0-F8BA-4A89-87A4-4F20079DFD06}" destId="{39AFE128-ACF6-44CA-B18B-64F5782CF210}" srcOrd="0" destOrd="0" presId="urn:microsoft.com/office/officeart/2005/8/layout/vList4"/>
    <dgm:cxn modelId="{96387330-3F66-47C0-9371-E17EB94670E5}" type="presOf" srcId="{2E221207-005F-49CB-81E1-6D036D64322B}" destId="{54FC4CB6-0791-48D3-B2C5-2E99B8AFCFF7}" srcOrd="0" destOrd="2" presId="urn:microsoft.com/office/officeart/2005/8/layout/vList4"/>
    <dgm:cxn modelId="{48FE8532-0DBD-4CB4-8790-18E1007BA17C}" type="presOf" srcId="{2E221207-005F-49CB-81E1-6D036D64322B}" destId="{52D125D2-FCA7-4A2D-AB39-B6BD54F251F2}" srcOrd="1" destOrd="2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D807CC5D-7B16-4C61-B5DB-808B0358722D}" srcId="{78BFB295-8F5D-4286-B72B-79142F8F0E13}" destId="{2E221207-005F-49CB-81E1-6D036D64322B}" srcOrd="1" destOrd="0" parTransId="{B200B6AA-AA2A-4CB8-80FF-4BB54938E8A5}" sibTransId="{3728DB5E-E904-481D-A1E5-49CF4AFFC0D3}"/>
    <dgm:cxn modelId="{22B27947-9396-4F3D-BF02-95084DB79E9F}" type="presOf" srcId="{55A2A9EB-4C26-43C3-B721-D475B10BC39B}" destId="{CFFDF23F-D296-4CDF-8EE4-8A672559E207}" srcOrd="1" destOrd="2" presId="urn:microsoft.com/office/officeart/2005/8/layout/vList4"/>
    <dgm:cxn modelId="{0B9CE66A-8706-4F94-8FA6-DC4B29761CBF}" type="presOf" srcId="{761B5960-C5C5-4A81-977F-F8155402171A}" destId="{F6EA3109-3DED-4AF4-91BA-940DEFBF6AB6}" srcOrd="0" destOrd="2" presId="urn:microsoft.com/office/officeart/2005/8/layout/vList4"/>
    <dgm:cxn modelId="{9E85944D-B05D-49A6-A077-11FD40657B93}" type="presOf" srcId="{EA3B2395-55AF-495E-9D6B-329D2886612F}" destId="{CFFDF23F-D296-4CDF-8EE4-8A672559E207}" srcOrd="1" destOrd="1" presId="urn:microsoft.com/office/officeart/2005/8/layout/vList4"/>
    <dgm:cxn modelId="{1FCDC96F-E7D0-4592-88D9-5D1CC7D10168}" srcId="{F09BF26D-2022-40EF-B754-46AD6A5DA741}" destId="{761B5960-C5C5-4A81-977F-F8155402171A}" srcOrd="1" destOrd="0" parTransId="{22F36988-6788-43E0-A823-AE4DD93A3D87}" sibTransId="{44CDD779-8E39-476B-AA7D-0796F124FDD0}"/>
    <dgm:cxn modelId="{80C3C072-43D6-4913-AFAE-3CADCE9E7084}" type="presOf" srcId="{F09BF26D-2022-40EF-B754-46AD6A5DA741}" destId="{F6EA3109-3DED-4AF4-91BA-940DEFBF6AB6}" srcOrd="0" destOrd="0" presId="urn:microsoft.com/office/officeart/2005/8/layout/vList4"/>
    <dgm:cxn modelId="{61B14E73-C545-4FAF-A9A1-1B5F097E1162}" srcId="{F09BF26D-2022-40EF-B754-46AD6A5DA741}" destId="{0390E1A4-9F0C-46E1-9789-486D169974EF}" srcOrd="0" destOrd="0" parTransId="{6B5C0B58-0A4A-499B-8E3C-CFF01ED1659D}" sibTransId="{B2B96C2E-A18A-4AAD-B360-3C214C15C245}"/>
    <dgm:cxn modelId="{9B06EC53-423E-4393-A141-AEC376BB0443}" srcId="{BE45140C-C326-4DAA-A267-498AD5117D68}" destId="{F09BF26D-2022-40EF-B754-46AD6A5DA741}" srcOrd="2" destOrd="0" parTransId="{22E33F83-C1EA-4F57-9248-EBBDD1566FE6}" sibTransId="{A3A9474B-2427-41B4-91AF-61930E05E90E}"/>
    <dgm:cxn modelId="{3474B356-2BF2-490A-958B-E72637ABA416}" type="presOf" srcId="{78BFB295-8F5D-4286-B72B-79142F8F0E13}" destId="{54FC4CB6-0791-48D3-B2C5-2E99B8AFCFF7}" srcOrd="0" destOrd="0" presId="urn:microsoft.com/office/officeart/2005/8/layout/vList4"/>
    <dgm:cxn modelId="{480A7958-F683-482B-909F-1DA9BE4FE2BF}" type="presOf" srcId="{02A34BC0-F8BA-4A89-87A4-4F20079DFD06}" destId="{CFFDF23F-D296-4CDF-8EE4-8A672559E207}" srcOrd="1" destOrd="0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BB79E65A-E389-496C-A7A2-0A70C4BE21B2}" type="presOf" srcId="{0390E1A4-9F0C-46E1-9789-486D169974EF}" destId="{4539DCF4-B987-4503-BDC5-6515AA2623F4}" srcOrd="1" destOrd="1" presId="urn:microsoft.com/office/officeart/2005/8/layout/vList4"/>
    <dgm:cxn modelId="{0F09EB7A-1084-4FEE-8149-1F851BBCCC03}" type="presOf" srcId="{78BFB295-8F5D-4286-B72B-79142F8F0E13}" destId="{52D125D2-FCA7-4A2D-AB39-B6BD54F251F2}" srcOrd="1" destOrd="0" presId="urn:microsoft.com/office/officeart/2005/8/layout/vList4"/>
    <dgm:cxn modelId="{68AB318D-5020-497E-BCF4-FF8FE1694D72}" type="presOf" srcId="{D868444B-AE34-4422-A6A5-1F7D392D0C20}" destId="{52D125D2-FCA7-4A2D-AB39-B6BD54F251F2}" srcOrd="1" destOrd="1" presId="urn:microsoft.com/office/officeart/2005/8/layout/vList4"/>
    <dgm:cxn modelId="{046F3595-A834-40A4-A4DC-F2DC92DCF4BD}" type="presOf" srcId="{55A2A9EB-4C26-43C3-B721-D475B10BC39B}" destId="{39AFE128-ACF6-44CA-B18B-64F5782CF210}" srcOrd="0" destOrd="2" presId="urn:microsoft.com/office/officeart/2005/8/layout/vList4"/>
    <dgm:cxn modelId="{DDEC9995-9DFA-4190-955E-52983766E12B}" type="presOf" srcId="{D868444B-AE34-4422-A6A5-1F7D392D0C20}" destId="{54FC4CB6-0791-48D3-B2C5-2E99B8AFCFF7}" srcOrd="0" destOrd="1" presId="urn:microsoft.com/office/officeart/2005/8/layout/vList4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C910FEA4-E628-4C01-85E2-FE1EAE875196}" type="presOf" srcId="{F09BF26D-2022-40EF-B754-46AD6A5DA741}" destId="{4539DCF4-B987-4503-BDC5-6515AA2623F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EF14ADBD-6B4F-463C-B62D-C9390E6603B5}" type="presOf" srcId="{EA3B2395-55AF-495E-9D6B-329D2886612F}" destId="{39AFE128-ACF6-44CA-B18B-64F5782CF210}" srcOrd="0" destOrd="1" presId="urn:microsoft.com/office/officeart/2005/8/layout/vList4"/>
    <dgm:cxn modelId="{B7C8D5C8-E92D-44B2-B389-1B2D4DCB97E9}" type="presOf" srcId="{0390E1A4-9F0C-46E1-9789-486D169974EF}" destId="{F6EA3109-3DED-4AF4-91BA-940DEFBF6AB6}" srcOrd="0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BC7797F8-EBCD-4B27-AE2B-94D42D77D1E2}" type="presParOf" srcId="{6E1E561E-88C1-49C6-A3F7-DE4B9AD43273}" destId="{F70979D0-5925-4EC3-AD84-986E0EC7B0D8}" srcOrd="0" destOrd="0" presId="urn:microsoft.com/office/officeart/2005/8/layout/vList4"/>
    <dgm:cxn modelId="{DD49E96D-1621-4E81-A2D3-66876FAFE724}" type="presParOf" srcId="{F70979D0-5925-4EC3-AD84-986E0EC7B0D8}" destId="{54FC4CB6-0791-48D3-B2C5-2E99B8AFCFF7}" srcOrd="0" destOrd="0" presId="urn:microsoft.com/office/officeart/2005/8/layout/vList4"/>
    <dgm:cxn modelId="{E4019459-11AA-4158-8914-0B7927DF243D}" type="presParOf" srcId="{F70979D0-5925-4EC3-AD84-986E0EC7B0D8}" destId="{9A7E2690-DE9C-4572-9BE5-B8C9A3B8BBB3}" srcOrd="1" destOrd="0" presId="urn:microsoft.com/office/officeart/2005/8/layout/vList4"/>
    <dgm:cxn modelId="{96CA4F93-48BF-47DB-B59A-F19A35B6D2BF}" type="presParOf" srcId="{F70979D0-5925-4EC3-AD84-986E0EC7B0D8}" destId="{52D125D2-FCA7-4A2D-AB39-B6BD54F251F2}" srcOrd="2" destOrd="0" presId="urn:microsoft.com/office/officeart/2005/8/layout/vList4"/>
    <dgm:cxn modelId="{B2761B9C-DA7B-44F7-956C-6C079C2717BC}" type="presParOf" srcId="{6E1E561E-88C1-49C6-A3F7-DE4B9AD43273}" destId="{E95CA29D-745B-40BA-93B6-BB607C99A2CE}" srcOrd="1" destOrd="0" presId="urn:microsoft.com/office/officeart/2005/8/layout/vList4"/>
    <dgm:cxn modelId="{A637B014-EF95-4A40-AD0A-D12343B1D328}" type="presParOf" srcId="{6E1E561E-88C1-49C6-A3F7-DE4B9AD43273}" destId="{41A67AC8-1DD7-4AB7-96A3-87B24035E3FA}" srcOrd="2" destOrd="0" presId="urn:microsoft.com/office/officeart/2005/8/layout/vList4"/>
    <dgm:cxn modelId="{AA058647-A479-4195-A13D-CFBE1758A544}" type="presParOf" srcId="{41A67AC8-1DD7-4AB7-96A3-87B24035E3FA}" destId="{39AFE128-ACF6-44CA-B18B-64F5782CF210}" srcOrd="0" destOrd="0" presId="urn:microsoft.com/office/officeart/2005/8/layout/vList4"/>
    <dgm:cxn modelId="{3FA95398-69D2-4D04-8BAF-DB39DC9D520D}" type="presParOf" srcId="{41A67AC8-1DD7-4AB7-96A3-87B24035E3FA}" destId="{3F97C059-D720-4D48-953F-B84D04D0BF79}" srcOrd="1" destOrd="0" presId="urn:microsoft.com/office/officeart/2005/8/layout/vList4"/>
    <dgm:cxn modelId="{839A1669-090F-4E53-B21A-11A99830A3C2}" type="presParOf" srcId="{41A67AC8-1DD7-4AB7-96A3-87B24035E3FA}" destId="{CFFDF23F-D296-4CDF-8EE4-8A672559E207}" srcOrd="2" destOrd="0" presId="urn:microsoft.com/office/officeart/2005/8/layout/vList4"/>
    <dgm:cxn modelId="{EA1BB4CA-370E-452F-A213-C00998A6EE83}" type="presParOf" srcId="{6E1E561E-88C1-49C6-A3F7-DE4B9AD43273}" destId="{40453781-DACE-4118-ADC4-2B966E9374E5}" srcOrd="3" destOrd="0" presId="urn:microsoft.com/office/officeart/2005/8/layout/vList4"/>
    <dgm:cxn modelId="{65011054-B576-4D6F-A578-203BBB45EF9D}" type="presParOf" srcId="{6E1E561E-88C1-49C6-A3F7-DE4B9AD43273}" destId="{0A053813-1A27-48A9-9CE4-CF4EBB9943E0}" srcOrd="4" destOrd="0" presId="urn:microsoft.com/office/officeart/2005/8/layout/vList4"/>
    <dgm:cxn modelId="{0C3FF975-E5D0-44C7-AD67-27797B65BC79}" type="presParOf" srcId="{0A053813-1A27-48A9-9CE4-CF4EBB9943E0}" destId="{F6EA3109-3DED-4AF4-91BA-940DEFBF6AB6}" srcOrd="0" destOrd="0" presId="urn:microsoft.com/office/officeart/2005/8/layout/vList4"/>
    <dgm:cxn modelId="{EE1C6043-CD93-49A4-86B5-D8ABAD918139}" type="presParOf" srcId="{0A053813-1A27-48A9-9CE4-CF4EBB9943E0}" destId="{504B6808-2EA0-4B63-AE60-779A9AA54E83}" srcOrd="1" destOrd="0" presId="urn:microsoft.com/office/officeart/2005/8/layout/vList4"/>
    <dgm:cxn modelId="{44E3A1D1-7FC7-4D8A-B1B9-4B31F2C102CF}" type="presParOf" srcId="{0A053813-1A27-48A9-9CE4-CF4EBB9943E0}" destId="{4539DCF4-B987-4503-BDC5-6515AA2623F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6781017" cy="14352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900" kern="1200" dirty="0"/>
            <a:t>Pamela Romero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1500" kern="1200" dirty="0"/>
            <a:t>Jefe de proyecto </a:t>
          </a:r>
          <a:r>
            <a:rPr lang="es-CL" sz="1500" kern="1200"/>
            <a:t>/ DBA</a:t>
          </a:r>
          <a:endParaRPr lang="es-CL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1500" kern="1200" dirty="0"/>
            <a:t>Planificación y coordinación del proyecto, gestión de riesgos y diseño y administración de la base de datos.</a:t>
          </a:r>
        </a:p>
      </dsp:txBody>
      <dsp:txXfrm>
        <a:off x="1499732" y="0"/>
        <a:ext cx="5281284" cy="1435286"/>
      </dsp:txXfrm>
    </dsp:sp>
    <dsp:sp modelId="{9A7E2690-DE9C-4572-9BE5-B8C9A3B8BBB3}">
      <dsp:nvSpPr>
        <dsp:cNvPr id="0" name=""/>
        <dsp:cNvSpPr/>
      </dsp:nvSpPr>
      <dsp:spPr>
        <a:xfrm>
          <a:off x="143528" y="143528"/>
          <a:ext cx="1356203" cy="1148229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578814"/>
          <a:ext cx="6781017" cy="14352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900" kern="1200" dirty="0"/>
            <a:t>Javiera Pérez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500" kern="1200"/>
            <a:t>Analista Programador / Diseñador</a:t>
          </a:r>
          <a:endParaRPr lang="es-CL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1500" kern="1200" dirty="0"/>
            <a:t>Desarrollo backend y móvil, diseño de interfaces, integración de componentes y documentación técnica.</a:t>
          </a:r>
        </a:p>
      </dsp:txBody>
      <dsp:txXfrm>
        <a:off x="1499732" y="1578814"/>
        <a:ext cx="5281284" cy="1435286"/>
      </dsp:txXfrm>
    </dsp:sp>
    <dsp:sp modelId="{3F97C059-D720-4D48-953F-B84D04D0BF79}">
      <dsp:nvSpPr>
        <dsp:cNvPr id="0" name=""/>
        <dsp:cNvSpPr/>
      </dsp:nvSpPr>
      <dsp:spPr>
        <a:xfrm>
          <a:off x="143528" y="1722343"/>
          <a:ext cx="1356203" cy="1148229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6EA3109-3DED-4AF4-91BA-940DEFBF6AB6}">
      <dsp:nvSpPr>
        <dsp:cNvPr id="0" name=""/>
        <dsp:cNvSpPr/>
      </dsp:nvSpPr>
      <dsp:spPr>
        <a:xfrm>
          <a:off x="0" y="3157629"/>
          <a:ext cx="6781017" cy="14352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900" kern="1200" dirty="0"/>
            <a:t>Karina Tobar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1500" kern="1200" dirty="0"/>
            <a:t>Analista Funcional / QA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1500" kern="1200" dirty="0"/>
            <a:t>Levantamiento y análisis de requerimientos, análisis funcional, ejecución de pruebas y aseguramiento de calidad.</a:t>
          </a:r>
        </a:p>
      </dsp:txBody>
      <dsp:txXfrm>
        <a:off x="1499732" y="3157629"/>
        <a:ext cx="5281284" cy="1435286"/>
      </dsp:txXfrm>
    </dsp:sp>
    <dsp:sp modelId="{504B6808-2EA0-4B63-AE60-779A9AA54E83}">
      <dsp:nvSpPr>
        <dsp:cNvPr id="0" name=""/>
        <dsp:cNvSpPr/>
      </dsp:nvSpPr>
      <dsp:spPr>
        <a:xfrm>
          <a:off x="143528" y="3301158"/>
          <a:ext cx="1356203" cy="1148229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#1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16321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1782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67895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8738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07270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67012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05582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60019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87328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46995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28879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6040A3-26B0-41B9-8D0E-A6E2BE76A0F6}" type="datetimeFigureOut">
              <a:rPr lang="es-CL" smtClean="0"/>
              <a:t>08-09-2026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6B74D-EAB3-419D-9AFB-7734616CA1B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12017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407886" y="1398133"/>
            <a:ext cx="9144000" cy="1620837"/>
          </a:xfrm>
        </p:spPr>
        <p:txBody>
          <a:bodyPr>
            <a:normAutofit fontScale="90000"/>
          </a:bodyPr>
          <a:lstStyle/>
          <a:p>
            <a:r>
              <a:rPr lang="es-CL" dirty="0"/>
              <a:t>Presentación Portafolio Titulo</a:t>
            </a:r>
            <a:br>
              <a:rPr lang="es-CL" dirty="0"/>
            </a:br>
            <a:r>
              <a:rPr lang="es-CL" sz="3200" dirty="0"/>
              <a:t>“VITTA”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562999"/>
            <a:ext cx="9144000" cy="1620837"/>
          </a:xfrm>
        </p:spPr>
        <p:txBody>
          <a:bodyPr>
            <a:noAutofit/>
          </a:bodyPr>
          <a:lstStyle/>
          <a:p>
            <a:r>
              <a:rPr lang="es-CL" sz="3200" dirty="0"/>
              <a:t>Ingeniería Informática</a:t>
            </a:r>
          </a:p>
          <a:p>
            <a:r>
              <a:rPr lang="es-CL" sz="1400" dirty="0"/>
              <a:t>Escuela de Informática y Telecomunicaciones</a:t>
            </a:r>
          </a:p>
          <a:p>
            <a:r>
              <a:rPr lang="es-CL" sz="1400" dirty="0"/>
              <a:t>Sede Puente Alto</a:t>
            </a:r>
          </a:p>
          <a:p>
            <a:r>
              <a:rPr lang="es-CL" sz="1400" dirty="0"/>
              <a:t>2026</a:t>
            </a:r>
          </a:p>
          <a:p>
            <a:endParaRPr lang="es-CL" sz="1400" dirty="0"/>
          </a:p>
          <a:p>
            <a:endParaRPr lang="es-CL" sz="1400" dirty="0"/>
          </a:p>
        </p:txBody>
      </p:sp>
    </p:spTree>
    <p:extLst>
      <p:ext uri="{BB962C8B-B14F-4D97-AF65-F5344CB8AC3E}">
        <p14:creationId xmlns:p14="http://schemas.microsoft.com/office/powerpoint/2010/main" val="2151433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5D7939A-BC7B-E516-681B-96044152210D}"/>
              </a:ext>
            </a:extLst>
          </p:cNvPr>
          <p:cNvSpPr txBox="1"/>
          <p:nvPr/>
        </p:nvSpPr>
        <p:spPr>
          <a:xfrm>
            <a:off x="555827" y="2315666"/>
            <a:ext cx="29938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graphicFrame>
        <p:nvGraphicFramePr>
          <p:cNvPr id="10" name="Diagrama 9">
            <a:extLst>
              <a:ext uri="{FF2B5EF4-FFF2-40B4-BE49-F238E27FC236}">
                <a16:creationId xmlns:a16="http://schemas.microsoft.com/office/drawing/2014/main" id="{61689694-AE1D-7F59-36B7-DCF4483D5E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90706388"/>
              </p:ext>
            </p:extLst>
          </p:nvPr>
        </p:nvGraphicFramePr>
        <p:xfrm>
          <a:off x="4082926" y="1382434"/>
          <a:ext cx="6781017" cy="45929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735998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725659" y="1110713"/>
            <a:ext cx="10515600" cy="718087"/>
          </a:xfrm>
        </p:spPr>
        <p:txBody>
          <a:bodyPr/>
          <a:lstStyle/>
          <a:p>
            <a:r>
              <a:rPr lang="es-CL" dirty="0"/>
              <a:t>Descripción del Proyecto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3CAAA338-F429-9042-FFA7-A873477A3F80}"/>
              </a:ext>
            </a:extLst>
          </p:cNvPr>
          <p:cNvSpPr/>
          <p:nvPr/>
        </p:nvSpPr>
        <p:spPr>
          <a:xfrm>
            <a:off x="714909" y="2169769"/>
            <a:ext cx="4427360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Problemática</a:t>
            </a:r>
          </a:p>
          <a:p>
            <a:pPr lvl="0" algn="ctr"/>
            <a:endParaRPr lang="es-MX" u="sng" dirty="0"/>
          </a:p>
          <a:p>
            <a:pPr algn="just"/>
            <a:r>
              <a:rPr lang="es-MX" dirty="0"/>
              <a:t>Las personas suelen distribuir su información de organización personal, bienestar y finanzas entre distintas herramientas, dificultando el seguimiento de sus actividades y avances. Además, registrar hábitos sin una visión consolidada puede reducir la constancia y motivación.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66F7A35-626F-23CE-7A47-1D8E5CBBB80B}"/>
              </a:ext>
            </a:extLst>
          </p:cNvPr>
          <p:cNvSpPr/>
          <p:nvPr/>
        </p:nvSpPr>
        <p:spPr>
          <a:xfrm>
            <a:off x="6912079" y="2177325"/>
            <a:ext cx="4641292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 algn="just"/>
            <a:r>
              <a:rPr lang="es-MX" dirty="0"/>
              <a:t>Vitta como aplicación móvil modular, permite registrar actividades e información de Alimentación e Hidratación, Dejar de fumar y Finanzas; consultar historial, metas y progreso, utilizar </a:t>
            </a:r>
            <a:r>
              <a:rPr lang="es-MX" dirty="0" err="1"/>
              <a:t>dashboard</a:t>
            </a:r>
            <a:r>
              <a:rPr lang="es-MX" dirty="0"/>
              <a:t>, calendario y recibir notificaciones, todo en un solo aplicativo.</a:t>
            </a:r>
          </a:p>
          <a:p>
            <a:pPr lvl="0" algn="just"/>
            <a:endParaRPr lang="es-MX" dirty="0"/>
          </a:p>
          <a:p>
            <a:pPr lvl="0" algn="just"/>
            <a:r>
              <a:rPr lang="es-MX" dirty="0"/>
              <a:t>La solución incorpora además un componente administrativo para mantenedores.</a:t>
            </a:r>
          </a:p>
        </p:txBody>
      </p:sp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8FB58451-B5D0-BDE6-FFE9-4D940E71256C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3091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1F1CFDA6-4B15-1117-A158-08C7A7DC2C2C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Desarrollar una aplicación móvil modular orientada a la organización personal y al seguimiento de hábitos relacionados con el bienestar, que permita registrar información, establecer metas opcionales, visualizar progresos y utilizar diferentes funcionalidades y personalizaciones.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68ECD55C-14AF-66FA-ED98-BC5A00C9EF6C}"/>
              </a:ext>
            </a:extLst>
          </p:cNvPr>
          <p:cNvSpPr/>
          <p:nvPr/>
        </p:nvSpPr>
        <p:spPr>
          <a:xfrm>
            <a:off x="614514" y="473240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Diseñar e implementar la aplicación móvil en </a:t>
            </a:r>
            <a:r>
              <a:rPr lang="es-MX" dirty="0" err="1"/>
              <a:t>React</a:t>
            </a:r>
            <a:r>
              <a:rPr lang="es-MX" dirty="0"/>
              <a:t> Native y JavaScript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Desarrollar un </a:t>
            </a:r>
            <a:r>
              <a:rPr lang="es-MX" dirty="0" err="1"/>
              <a:t>bacakend</a:t>
            </a:r>
            <a:r>
              <a:rPr lang="es-MX" dirty="0"/>
              <a:t> en Python con API REST, autenticación y validaciones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Implementar módulos de Alimentación e Hidratación, Dejar de fumar y Finanzas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Incorporar un </a:t>
            </a:r>
            <a:r>
              <a:rPr lang="es-MX" dirty="0" err="1"/>
              <a:t>dashboard</a:t>
            </a:r>
            <a:r>
              <a:rPr lang="es-MX" dirty="0"/>
              <a:t>, calendario, notificaciones, puntos y recompensas, logros, rachas y mascota virtual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Implementar módulo administrativo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EF79C96-AB81-4E82-DFF5-8BABB8C6C3B1}"/>
              </a:ext>
            </a:extLst>
          </p:cNvPr>
          <p:cNvSpPr txBox="1"/>
          <p:nvPr/>
        </p:nvSpPr>
        <p:spPr>
          <a:xfrm>
            <a:off x="152400" y="1197198"/>
            <a:ext cx="1193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5A578C5-359E-EE93-4566-7B93CDA5020B}"/>
              </a:ext>
            </a:extLst>
          </p:cNvPr>
          <p:cNvSpPr txBox="1"/>
          <p:nvPr/>
        </p:nvSpPr>
        <p:spPr>
          <a:xfrm>
            <a:off x="152400" y="4009875"/>
            <a:ext cx="1193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74292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810065" y="809447"/>
            <a:ext cx="10515600" cy="750840"/>
          </a:xfrm>
        </p:spPr>
        <p:txBody>
          <a:bodyPr/>
          <a:lstStyle/>
          <a:p>
            <a:r>
              <a:rPr lang="es-CL" dirty="0"/>
              <a:t>Alcances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914374" y="1664801"/>
            <a:ext cx="1007294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Que hace el Sistema: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Permite el registro, acceso, recuperación de contraseña y gestión del perfil.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Permite la selección, habilitar y/o deshabilitar módulos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El registro de actividades y metas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Módulos de alimentación e hidratación, dejar de fumar y finanzas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Consultar historiales, progresos, ver calendario y reportes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Entrega notificaciones, puntos, logros, rachas, recompensas y permite la personalización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Posee un componente administrativo de la app.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dirty="0"/>
          </a:p>
          <a:p>
            <a:r>
              <a:rPr lang="es-CL" dirty="0"/>
              <a:t>Qué no hace:</a:t>
            </a:r>
          </a:p>
          <a:p>
            <a:endParaRPr lang="es-C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No realiza diagnósticos médicos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No entrega asesoría nutricional o financiera profesional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No realiza inversiones ni toma decisiones financieras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No genera un plan para dejar de fumar</a:t>
            </a:r>
          </a:p>
        </p:txBody>
      </p:sp>
    </p:spTree>
    <p:extLst>
      <p:ext uri="{BB962C8B-B14F-4D97-AF65-F5344CB8AC3E}">
        <p14:creationId xmlns:p14="http://schemas.microsoft.com/office/powerpoint/2010/main" val="4008041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841416" y="1054442"/>
            <a:ext cx="10515600" cy="752587"/>
          </a:xfrm>
        </p:spPr>
        <p:txBody>
          <a:bodyPr/>
          <a:lstStyle/>
          <a:p>
            <a:r>
              <a:rPr lang="es-CL" dirty="0"/>
              <a:t>Usuarios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E3D74629-6040-F658-DDEF-7F56A5261CFD}"/>
              </a:ext>
            </a:extLst>
          </p:cNvPr>
          <p:cNvSpPr/>
          <p:nvPr/>
        </p:nvSpPr>
        <p:spPr>
          <a:xfrm>
            <a:off x="839487" y="1923143"/>
            <a:ext cx="10365542" cy="433251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dirty="0"/>
              <a:t>Vitta considera dos tipos principales de usuarios:</a:t>
            </a:r>
            <a:br>
              <a:rPr lang="es-CL" b="1" dirty="0"/>
            </a:br>
            <a:br>
              <a:rPr lang="es-CL" b="1" dirty="0"/>
            </a:br>
            <a:r>
              <a:rPr lang="es-CL" b="1" dirty="0"/>
              <a:t>Usuario final: </a:t>
            </a:r>
            <a:endParaRPr lang="es-CL" dirty="0"/>
          </a:p>
          <a:p>
            <a:pPr lvl="0"/>
            <a:r>
              <a:rPr lang="es-CL" dirty="0"/>
              <a:t>Persona interesada en mejorar sus hábitos, organización personal y seguimiento de objetivos</a:t>
            </a:r>
          </a:p>
          <a:p>
            <a:pPr lvl="0"/>
            <a:r>
              <a:rPr lang="es-CL" dirty="0"/>
              <a:t>Experiencia básica en aplicaciones móviles. </a:t>
            </a:r>
          </a:p>
          <a:p>
            <a:pPr lvl="0"/>
            <a:r>
              <a:rPr lang="es-CL" dirty="0"/>
              <a:t>No requiere conocimientos técnicos especializados. </a:t>
            </a:r>
          </a:p>
          <a:p>
            <a:endParaRPr lang="es-CL" dirty="0"/>
          </a:p>
          <a:p>
            <a:r>
              <a:rPr lang="es-CL" b="1" dirty="0"/>
              <a:t>Administrador</a:t>
            </a:r>
            <a:endParaRPr lang="es-CL" dirty="0"/>
          </a:p>
          <a:p>
            <a:pPr lvl="0"/>
            <a:r>
              <a:rPr lang="es-CL" dirty="0"/>
              <a:t>Responsable de parámetros, mantenedores y configuraciones generales. </a:t>
            </a:r>
          </a:p>
          <a:p>
            <a:pPr lvl="0"/>
            <a:r>
              <a:rPr lang="es-CL" dirty="0"/>
              <a:t>Acceso a funcionalidades administrativas restringidas. </a:t>
            </a:r>
          </a:p>
          <a:p>
            <a:pPr lvl="0"/>
            <a:r>
              <a:rPr lang="es-CL" dirty="0"/>
              <a:t>Experiencia intermedia en sistemas.</a:t>
            </a:r>
          </a:p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504090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D81D5-E25F-22F7-E67C-19AB3A8EE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58FA53D1-9FB3-E887-DC95-29BBC6FBF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416" y="1054442"/>
            <a:ext cx="10515600" cy="752587"/>
          </a:xfrm>
        </p:spPr>
        <p:txBody>
          <a:bodyPr/>
          <a:lstStyle/>
          <a:p>
            <a:r>
              <a:rPr lang="es-CL" dirty="0"/>
              <a:t>Lista de Requerimientos</a:t>
            </a: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E06EDC68-C899-7E14-7018-84BA7EBFD2C5}"/>
              </a:ext>
            </a:extLst>
          </p:cNvPr>
          <p:cNvSpPr/>
          <p:nvPr/>
        </p:nvSpPr>
        <p:spPr>
          <a:xfrm>
            <a:off x="714909" y="1807029"/>
            <a:ext cx="4931912" cy="4802115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000" u="sng" dirty="0"/>
              <a:t>Funcionales: 28</a:t>
            </a:r>
          </a:p>
          <a:p>
            <a:pPr lvl="0" algn="ctr"/>
            <a:endParaRPr lang="es-MX" u="sng" dirty="0"/>
          </a:p>
          <a:p>
            <a:pPr lvl="0"/>
            <a:r>
              <a:rPr lang="es-CL" dirty="0"/>
              <a:t>Registro e inicio de sesión de usuarios. </a:t>
            </a:r>
          </a:p>
          <a:p>
            <a:pPr lvl="0"/>
            <a:r>
              <a:rPr lang="es-CL" dirty="0"/>
              <a:t>Recuperación de acceso. </a:t>
            </a:r>
          </a:p>
          <a:p>
            <a:pPr lvl="0"/>
            <a:r>
              <a:rPr lang="es-CL" dirty="0"/>
              <a:t>Selección y gestión de módulos. </a:t>
            </a:r>
          </a:p>
          <a:p>
            <a:pPr lvl="0"/>
            <a:r>
              <a:rPr lang="es-CL" dirty="0"/>
              <a:t>Visualización del progreso e historial. </a:t>
            </a:r>
          </a:p>
          <a:p>
            <a:pPr lvl="0"/>
            <a:r>
              <a:rPr lang="es-CL" dirty="0"/>
              <a:t>Notificaciones y recordatorios. </a:t>
            </a:r>
          </a:p>
          <a:p>
            <a:pPr lvl="0"/>
            <a:r>
              <a:rPr lang="es-CL" dirty="0"/>
              <a:t>Sistema de puntos y recompensas. </a:t>
            </a:r>
          </a:p>
          <a:p>
            <a:pPr lvl="0"/>
            <a:r>
              <a:rPr lang="es-CL" dirty="0"/>
              <a:t>Gestión de ingresos y gastos. </a:t>
            </a:r>
          </a:p>
          <a:p>
            <a:pPr lvl="0"/>
            <a:r>
              <a:rPr lang="es-CL" dirty="0"/>
              <a:t>Seguimiento del proceso de dejar de fumar. </a:t>
            </a:r>
          </a:p>
          <a:p>
            <a:pPr lvl="0"/>
            <a:r>
              <a:rPr lang="es-CL" dirty="0"/>
              <a:t>Registro de alimentación e hidratación. </a:t>
            </a:r>
          </a:p>
          <a:p>
            <a:pPr lvl="0"/>
            <a:r>
              <a:rPr lang="es-CL" dirty="0" err="1"/>
              <a:t>Dashboard</a:t>
            </a:r>
            <a:r>
              <a:rPr lang="es-CL" dirty="0"/>
              <a:t> general. </a:t>
            </a:r>
          </a:p>
          <a:p>
            <a:pPr lvl="0"/>
            <a:r>
              <a:rPr lang="es-CL" dirty="0"/>
              <a:t>Calendario. </a:t>
            </a:r>
          </a:p>
          <a:p>
            <a:pPr lvl="0"/>
            <a:r>
              <a:rPr lang="es-CL" dirty="0"/>
              <a:t>Administración y mantención del sistema. </a:t>
            </a:r>
          </a:p>
          <a:p>
            <a:pPr lvl="0"/>
            <a:r>
              <a:rPr lang="es-CL" dirty="0"/>
              <a:t>Integración con servicios externos.</a:t>
            </a:r>
          </a:p>
          <a:p>
            <a:pPr lvl="0" algn="ctr"/>
            <a:endParaRPr lang="es-CL" sz="1800" u="sng" dirty="0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AB302734-0F6A-526E-9937-541AF12135DA}"/>
              </a:ext>
            </a:extLst>
          </p:cNvPr>
          <p:cNvSpPr/>
          <p:nvPr/>
        </p:nvSpPr>
        <p:spPr>
          <a:xfrm>
            <a:off x="6545181" y="1807029"/>
            <a:ext cx="4811835" cy="4802115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000" u="sng" dirty="0"/>
              <a:t>No funcionales: 12</a:t>
            </a:r>
          </a:p>
          <a:p>
            <a:pPr lvl="0" algn="ctr"/>
            <a:endParaRPr lang="es-MX" u="sng" dirty="0"/>
          </a:p>
          <a:p>
            <a:pPr lvl="0"/>
            <a:r>
              <a:rPr lang="es-CL" dirty="0"/>
              <a:t>Usabilidad. </a:t>
            </a:r>
          </a:p>
          <a:p>
            <a:pPr lvl="0"/>
            <a:r>
              <a:rPr lang="es-CL" dirty="0"/>
              <a:t>Rendimiento. </a:t>
            </a:r>
          </a:p>
          <a:p>
            <a:pPr lvl="0"/>
            <a:r>
              <a:rPr lang="es-CL" dirty="0"/>
              <a:t>Seguridad de credenciales. </a:t>
            </a:r>
          </a:p>
          <a:p>
            <a:pPr lvl="0"/>
            <a:r>
              <a:rPr lang="es-CL" dirty="0"/>
              <a:t>Protección de información personal. </a:t>
            </a:r>
          </a:p>
          <a:p>
            <a:pPr lvl="0"/>
            <a:r>
              <a:rPr lang="es-CL" dirty="0"/>
              <a:t>Compatibilidad móvil. </a:t>
            </a:r>
          </a:p>
          <a:p>
            <a:pPr lvl="0"/>
            <a:r>
              <a:rPr lang="es-CL" dirty="0"/>
              <a:t>Mantenibilidad. </a:t>
            </a:r>
          </a:p>
          <a:p>
            <a:pPr lvl="0"/>
            <a:r>
              <a:rPr lang="es-CL" dirty="0"/>
              <a:t>Arquitectura en capas. </a:t>
            </a:r>
          </a:p>
          <a:p>
            <a:pPr lvl="0"/>
            <a:r>
              <a:rPr lang="es-CL" dirty="0"/>
              <a:t>Escalabilidad. </a:t>
            </a:r>
          </a:p>
          <a:p>
            <a:pPr lvl="0"/>
            <a:r>
              <a:rPr lang="es-CL" dirty="0"/>
              <a:t>Modularidad del código. </a:t>
            </a:r>
          </a:p>
          <a:p>
            <a:pPr lvl="0"/>
            <a:r>
              <a:rPr lang="es-CL" dirty="0"/>
              <a:t>Manejo de errores.</a:t>
            </a:r>
          </a:p>
          <a:p>
            <a:pPr lvl="0" algn="ctr"/>
            <a:endParaRPr lang="es-CL" sz="1800" u="sng" dirty="0"/>
          </a:p>
        </p:txBody>
      </p:sp>
    </p:spTree>
    <p:extLst>
      <p:ext uri="{BB962C8B-B14F-4D97-AF65-F5344CB8AC3E}">
        <p14:creationId xmlns:p14="http://schemas.microsoft.com/office/powerpoint/2010/main" val="1618331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757367" y="1848356"/>
            <a:ext cx="999046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L"/>
          </a:p>
          <a:p>
            <a:endParaRPr lang="es-CL"/>
          </a:p>
          <a:p>
            <a:endParaRPr lang="es-CL"/>
          </a:p>
          <a:p>
            <a:endParaRPr lang="es-CL"/>
          </a:p>
          <a:p>
            <a:endParaRPr lang="es-CL"/>
          </a:p>
          <a:p>
            <a:endParaRPr lang="es-CL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F0261AD-0E30-9F91-6C3B-D2517C89E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98" y="2088697"/>
            <a:ext cx="5829302" cy="354605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A323398F-BE2E-9A9E-735A-6E1C75A1ED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414" y="2088697"/>
            <a:ext cx="5323173" cy="3546052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D6F8FBAE-B8EA-B060-E046-B3E3CDB51CC5}"/>
              </a:ext>
            </a:extLst>
          </p:cNvPr>
          <p:cNvSpPr txBox="1">
            <a:spLocks/>
          </p:cNvSpPr>
          <p:nvPr/>
        </p:nvSpPr>
        <p:spPr>
          <a:xfrm>
            <a:off x="838200" y="6699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dirty="0"/>
              <a:t>Splash + </a:t>
            </a:r>
            <a:r>
              <a:rPr lang="es-CL" dirty="0" err="1"/>
              <a:t>Onboarding</a:t>
            </a:r>
            <a:r>
              <a:rPr lang="es-CL" dirty="0"/>
              <a:t> – Acceso y usuarios</a:t>
            </a:r>
          </a:p>
        </p:txBody>
      </p:sp>
    </p:spTree>
    <p:extLst>
      <p:ext uri="{BB962C8B-B14F-4D97-AF65-F5344CB8AC3E}">
        <p14:creationId xmlns:p14="http://schemas.microsoft.com/office/powerpoint/2010/main" val="595374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45758-17A3-CA78-82D5-15B3DAA88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62922EE-3E04-8B6D-B7A9-B756AFA333C1}"/>
              </a:ext>
            </a:extLst>
          </p:cNvPr>
          <p:cNvSpPr txBox="1"/>
          <p:nvPr/>
        </p:nvSpPr>
        <p:spPr>
          <a:xfrm>
            <a:off x="757367" y="1848356"/>
            <a:ext cx="999046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L"/>
          </a:p>
          <a:p>
            <a:endParaRPr lang="es-CL"/>
          </a:p>
          <a:p>
            <a:endParaRPr lang="es-CL"/>
          </a:p>
          <a:p>
            <a:endParaRPr lang="es-CL"/>
          </a:p>
          <a:p>
            <a:endParaRPr lang="es-CL"/>
          </a:p>
          <a:p>
            <a:endParaRPr lang="es-CL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FB0BBCF-C0C0-2A36-520F-755D33BF14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81" r="13304"/>
          <a:stretch>
            <a:fillRect/>
          </a:stretch>
        </p:blipFill>
        <p:spPr>
          <a:xfrm>
            <a:off x="285931" y="1714787"/>
            <a:ext cx="2316480" cy="470971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D64AFFBA-78BC-5566-8838-3FF347C2C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070" y="1848356"/>
            <a:ext cx="9143999" cy="4557932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51D52884-2E49-8730-DEAF-17B8F83CB6EC}"/>
              </a:ext>
            </a:extLst>
          </p:cNvPr>
          <p:cNvSpPr txBox="1">
            <a:spLocks/>
          </p:cNvSpPr>
          <p:nvPr/>
        </p:nvSpPr>
        <p:spPr>
          <a:xfrm>
            <a:off x="838200" y="6699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L" dirty="0"/>
              <a:t>Home + Módulo “Alimentación e Hidratación”</a:t>
            </a:r>
          </a:p>
        </p:txBody>
      </p:sp>
    </p:spTree>
    <p:extLst>
      <p:ext uri="{BB962C8B-B14F-4D97-AF65-F5344CB8AC3E}">
        <p14:creationId xmlns:p14="http://schemas.microsoft.com/office/powerpoint/2010/main" val="1033991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9E3792A-E21B-122A-F9EA-E711B520C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724464"/>
            <a:ext cx="9144000" cy="4719711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4D89BFC7-FD61-11BA-0BA7-83CE9D589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925"/>
            <a:ext cx="10515600" cy="1325563"/>
          </a:xfrm>
        </p:spPr>
        <p:txBody>
          <a:bodyPr/>
          <a:lstStyle/>
          <a:p>
            <a:pPr algn="ctr"/>
            <a:r>
              <a:rPr lang="es-CL" dirty="0"/>
              <a:t>Módulo “Finanzas”</a:t>
            </a:r>
          </a:p>
        </p:txBody>
      </p:sp>
    </p:spTree>
    <p:extLst>
      <p:ext uri="{BB962C8B-B14F-4D97-AF65-F5344CB8AC3E}">
        <p14:creationId xmlns:p14="http://schemas.microsoft.com/office/powerpoint/2010/main" val="1398192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95F240-F67F-084B-23BF-577D0B3BE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925"/>
            <a:ext cx="10515600" cy="1325563"/>
          </a:xfrm>
        </p:spPr>
        <p:txBody>
          <a:bodyPr/>
          <a:lstStyle/>
          <a:p>
            <a:pPr algn="ctr"/>
            <a:r>
              <a:rPr lang="es-CL" dirty="0"/>
              <a:t>Módulo “Dejar de fumar”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0E17F64-279D-1135-8793-3B1489C6B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827848"/>
            <a:ext cx="9144000" cy="4635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8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641252" y="1068511"/>
            <a:ext cx="10515600" cy="644176"/>
          </a:xfrm>
        </p:spPr>
        <p:txBody>
          <a:bodyPr>
            <a:normAutofit fontScale="90000"/>
          </a:bodyPr>
          <a:lstStyle/>
          <a:p>
            <a:r>
              <a:rPr lang="es-CL" dirty="0"/>
              <a:t>Hitos Importantes </a:t>
            </a:r>
          </a:p>
        </p:txBody>
      </p:sp>
      <p:graphicFrame>
        <p:nvGraphicFramePr>
          <p:cNvPr id="6" name="Google Shape;546;p23">
            <a:extLst>
              <a:ext uri="{FF2B5EF4-FFF2-40B4-BE49-F238E27FC236}">
                <a16:creationId xmlns:a16="http://schemas.microsoft.com/office/drawing/2014/main" id="{D286135F-8E02-DD11-B3AB-F14E68EF67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9433415"/>
              </p:ext>
            </p:extLst>
          </p:nvPr>
        </p:nvGraphicFramePr>
        <p:xfrm>
          <a:off x="1708434" y="2356862"/>
          <a:ext cx="8243286" cy="2977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249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18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65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u="none" strike="noStrike" cap="none" dirty="0">
                          <a:solidFill>
                            <a:schemeClr val="tx1"/>
                          </a:solidFill>
                        </a:rPr>
                        <a:t>Nombre Fase</a:t>
                      </a:r>
                      <a:endParaRPr sz="1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u="none" strike="noStrike" cap="none" dirty="0">
                          <a:solidFill>
                            <a:schemeClr val="tx1"/>
                          </a:solidFill>
                        </a:rPr>
                        <a:t>Fechas</a:t>
                      </a:r>
                      <a:endParaRPr sz="1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8059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L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Fase 1 – Definición y planificación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s-CL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19/08/2026 – 12/09/2026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8059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L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Fase 2.1 – Modelo Arquitectónico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Aft>
                          <a:spcPts val="1000"/>
                        </a:spcAft>
                      </a:pPr>
                      <a:r>
                        <a:rPr lang="es-CL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13/09/2026 – 26/09/2026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586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Fase 2.2 – Desarrollo</a:t>
                      </a:r>
                      <a:endParaRPr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Aft>
                          <a:spcPts val="1000"/>
                        </a:spcAft>
                      </a:pPr>
                      <a:r>
                        <a:rPr lang="es-CL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27/09/2026 – 28/11/2026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846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Fase 3 – Pruebas y cierre</a:t>
                      </a:r>
                      <a:endParaRPr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s-CL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29/11/2026 – 09/12/2026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55373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706567" y="901597"/>
            <a:ext cx="10515600" cy="586118"/>
          </a:xfrm>
        </p:spPr>
        <p:txBody>
          <a:bodyPr>
            <a:normAutofit fontScale="90000"/>
          </a:bodyPr>
          <a:lstStyle/>
          <a:p>
            <a:r>
              <a:rPr lang="es-CL" dirty="0"/>
              <a:t>Costos por Fase 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071AF7DA-134D-130A-1892-1AF917CBE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7861563"/>
              </p:ext>
            </p:extLst>
          </p:nvPr>
        </p:nvGraphicFramePr>
        <p:xfrm>
          <a:off x="1900367" y="2076026"/>
          <a:ext cx="8128000" cy="29667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2286319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82620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Fase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Costo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8220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Fase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$4.440.313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7891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Fase 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$3.845.563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7360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Fase 2.2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$17.598.750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018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Fase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$5.782.563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9050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Costo del proyecto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$31.667.188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1069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Contingencia 20%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dirty="0"/>
                        <a:t>$6.333.438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1335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b="1" dirty="0"/>
                        <a:t>Total General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L" b="1" dirty="0"/>
                        <a:t>$38.000.625</a:t>
                      </a:r>
                      <a:endParaRPr lang="es-CL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41696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514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641252" y="1068511"/>
            <a:ext cx="10515600" cy="644176"/>
          </a:xfrm>
        </p:spPr>
        <p:txBody>
          <a:bodyPr>
            <a:normAutofit fontScale="90000"/>
          </a:bodyPr>
          <a:lstStyle/>
          <a:p>
            <a:r>
              <a:rPr lang="es-CL" dirty="0"/>
              <a:t>Tecnologías del Desarrollo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641252" y="1828016"/>
            <a:ext cx="1086131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800" b="1" dirty="0"/>
              <a:t>Aplicación móvil:</a:t>
            </a:r>
            <a:r>
              <a:rPr lang="es-CL" sz="2800" dirty="0"/>
              <a:t> </a:t>
            </a:r>
            <a:r>
              <a:rPr lang="es-CL" sz="2800" dirty="0" err="1"/>
              <a:t>React</a:t>
            </a:r>
            <a:r>
              <a:rPr lang="es-CL" sz="2800" dirty="0"/>
              <a:t> Native + JavaScript</a:t>
            </a:r>
          </a:p>
          <a:p>
            <a:r>
              <a:rPr lang="es-CL" sz="2800" b="1" dirty="0"/>
              <a:t>Backend:</a:t>
            </a:r>
            <a:r>
              <a:rPr lang="es-CL" sz="2800" dirty="0"/>
              <a:t> Python + API REST</a:t>
            </a:r>
          </a:p>
          <a:p>
            <a:r>
              <a:rPr lang="es-CL" sz="2800" b="1" dirty="0"/>
              <a:t>Comunicación:</a:t>
            </a:r>
            <a:r>
              <a:rPr lang="es-CL" sz="2800" dirty="0"/>
              <a:t> HTTP/HTTPS + JSON</a:t>
            </a:r>
          </a:p>
          <a:p>
            <a:r>
              <a:rPr lang="es-CL" sz="2800" b="1" dirty="0"/>
              <a:t>Base de datos:</a:t>
            </a:r>
            <a:r>
              <a:rPr lang="es-CL" sz="2800" dirty="0"/>
              <a:t> Motor por definir</a:t>
            </a:r>
          </a:p>
          <a:p>
            <a:r>
              <a:rPr lang="es-CL" sz="2800" b="1" dirty="0"/>
              <a:t>Control de versiones:</a:t>
            </a:r>
            <a:r>
              <a:rPr lang="es-CL" sz="2800" dirty="0"/>
              <a:t> Git + GitHub</a:t>
            </a:r>
          </a:p>
          <a:p>
            <a:r>
              <a:rPr lang="es-CL" sz="2800" b="1" dirty="0"/>
              <a:t>Arquitectura:</a:t>
            </a:r>
            <a:r>
              <a:rPr lang="es-CL" sz="2800" dirty="0"/>
              <a:t> Modular y en capas</a:t>
            </a:r>
          </a:p>
        </p:txBody>
      </p:sp>
    </p:spTree>
    <p:extLst>
      <p:ext uri="{BB962C8B-B14F-4D97-AF65-F5344CB8AC3E}">
        <p14:creationId xmlns:p14="http://schemas.microsoft.com/office/powerpoint/2010/main" val="34843486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3"/>
          <p:cNvSpPr txBox="1">
            <a:spLocks/>
          </p:cNvSpPr>
          <p:nvPr/>
        </p:nvSpPr>
        <p:spPr>
          <a:xfrm>
            <a:off x="609558" y="699121"/>
            <a:ext cx="10515600" cy="1053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dirty="0"/>
              <a:t>Conclusión  </a:t>
            </a: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C996CBE9-7AF7-AD71-3333-A4F05AF40672}"/>
              </a:ext>
            </a:extLst>
          </p:cNvPr>
          <p:cNvSpPr/>
          <p:nvPr/>
        </p:nvSpPr>
        <p:spPr>
          <a:xfrm>
            <a:off x="839487" y="1923143"/>
            <a:ext cx="10365542" cy="433251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sz="2200" dirty="0"/>
              <a:t>Vitta busca centralizar la organización personal y el seguimiento de hábitos relacionados con el bienestar en una única aplicación móvil modular.</a:t>
            </a:r>
          </a:p>
          <a:p>
            <a:r>
              <a:rPr lang="es-CL" sz="2200" dirty="0"/>
              <a:t>La solución permitirá registrar actividades, establecer metas y visualizar el progreso mediante módulos de Alimentación e Hidratación, Dejar de Fumar y Finanzas.</a:t>
            </a:r>
          </a:p>
          <a:p>
            <a:r>
              <a:rPr lang="es-CL" sz="2200" dirty="0"/>
              <a:t>Además, incorporará un </a:t>
            </a:r>
            <a:r>
              <a:rPr lang="es-CL" sz="2200" dirty="0" err="1"/>
              <a:t>Dashboard</a:t>
            </a:r>
            <a:r>
              <a:rPr lang="es-CL" sz="2200" dirty="0"/>
              <a:t>, calendario y un sistema de puntos y recompensas que busca motivar la constancia de los usuarios.</a:t>
            </a:r>
          </a:p>
          <a:p>
            <a:r>
              <a:rPr lang="es-CL" sz="2200" dirty="0"/>
              <a:t>Finalmente, el componente administrativo permitirá realizar las mantenciones y configuraciones necesarias para asegurar la continuidad y evolución del sistema.</a:t>
            </a:r>
          </a:p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407193317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804</Words>
  <Application>Microsoft Office PowerPoint</Application>
  <PresentationFormat>Panorámica</PresentationFormat>
  <Paragraphs>138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Tema de Office</vt:lpstr>
      <vt:lpstr>Presentación Portafolio Titulo “VITTA”</vt:lpstr>
      <vt:lpstr>Presentación de PowerPoint</vt:lpstr>
      <vt:lpstr>Descripción del Proyecto</vt:lpstr>
      <vt:lpstr>Presentación de PowerPoint</vt:lpstr>
      <vt:lpstr>Alcances</vt:lpstr>
      <vt:lpstr>Usuarios</vt:lpstr>
      <vt:lpstr>Lista de Requerimientos</vt:lpstr>
      <vt:lpstr>Presentación de PowerPoint</vt:lpstr>
      <vt:lpstr>Presentación de PowerPoint</vt:lpstr>
      <vt:lpstr>Módulo “Finanzas”</vt:lpstr>
      <vt:lpstr>Módulo “Dejar de fumar”</vt:lpstr>
      <vt:lpstr>Hitos Importantes </vt:lpstr>
      <vt:lpstr>Costos por Fase </vt:lpstr>
      <vt:lpstr>Tecnologías del Desarrollo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Portafolio de Título “Título del Caso”</dc:title>
  <dc:creator>Sala_</dc:creator>
  <cp:lastModifiedBy>JURIAN . SOTO LOPEZ</cp:lastModifiedBy>
  <cp:revision>90</cp:revision>
  <dcterms:created xsi:type="dcterms:W3CDTF">2015-07-01T15:45:01Z</dcterms:created>
  <dcterms:modified xsi:type="dcterms:W3CDTF">2026-09-09T03:04:22Z</dcterms:modified>
</cp:coreProperties>
</file>